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verage"/>
      <p:regular r:id="rId10"/>
    </p:embeddedFon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regular.fntdata"/><Relationship Id="rId10" Type="http://schemas.openxmlformats.org/officeDocument/2006/relationships/font" Target="fonts/Average-regular.fntdata"/><Relationship Id="rId12" Type="http://schemas.openxmlformats.org/officeDocument/2006/relationships/font" Target="fonts/Oswald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41657145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41657145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1657145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1657145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1657145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1657145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zmuhls.github.io/CommonSchoolMap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350" y="1750525"/>
            <a:ext cx="5825777" cy="24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4294967295" type="ctrTitle"/>
          </p:nvPr>
        </p:nvSpPr>
        <p:spPr>
          <a:xfrm>
            <a:off x="311058" y="371275"/>
            <a:ext cx="78015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School Archive of New York State</a:t>
            </a:r>
            <a:endParaRPr/>
          </a:p>
        </p:txBody>
      </p:sp>
      <p:sp>
        <p:nvSpPr>
          <p:cNvPr id="61" name="Google Shape;61;p13"/>
          <p:cNvSpPr txBox="1"/>
          <p:nvPr>
            <p:ph idx="4294967295" type="subTitle"/>
          </p:nvPr>
        </p:nvSpPr>
        <p:spPr>
          <a:xfrm>
            <a:off x="311050" y="2310050"/>
            <a:ext cx="2595300" cy="13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900"/>
              <a:t>Cen Liu</a:t>
            </a:r>
            <a:r>
              <a:rPr lang="en" sz="1900"/>
              <a:t>, 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900"/>
              <a:t>Theatre &amp; Performance </a:t>
            </a:r>
            <a:br>
              <a:rPr lang="en" sz="1900"/>
            </a:b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en" sz="1900"/>
              <a:t>Zach</a:t>
            </a:r>
            <a:r>
              <a:rPr lang="en" sz="1900"/>
              <a:t>ary</a:t>
            </a:r>
            <a:r>
              <a:rPr lang="en" sz="1900"/>
              <a:t> Muhlbauer, </a:t>
            </a:r>
            <a:br>
              <a:rPr lang="en" sz="1900"/>
            </a:br>
            <a:r>
              <a:rPr lang="en" sz="1900"/>
              <a:t>English</a:t>
            </a:r>
            <a:endParaRPr sz="1900"/>
          </a:p>
        </p:txBody>
      </p:sp>
      <p:sp>
        <p:nvSpPr>
          <p:cNvPr id="62" name="Google Shape;62;p13"/>
          <p:cNvSpPr txBox="1"/>
          <p:nvPr/>
        </p:nvSpPr>
        <p:spPr>
          <a:xfrm>
            <a:off x="311038" y="4062650"/>
            <a:ext cx="3913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Prototype</a:t>
            </a: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: </a:t>
            </a:r>
            <a:b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r>
              <a:rPr lang="en" sz="1300" u="sng">
                <a:solidFill>
                  <a:schemeClr val="hlink"/>
                </a:solidFill>
                <a:latin typeface="Average"/>
                <a:ea typeface="Average"/>
                <a:cs typeface="Average"/>
                <a:sym typeface="Average"/>
                <a:hlinkClick r:id="rId4"/>
              </a:rPr>
              <a:t>https://zmuhls.github.io/CommonSchoolMap/</a:t>
            </a:r>
            <a:endParaRPr sz="13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What is the Common School Movement?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417350"/>
            <a:ext cx="436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517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5"/>
              <a:buChar char="●"/>
            </a:pPr>
            <a:r>
              <a:rPr lang="en" sz="1604">
                <a:solidFill>
                  <a:schemeClr val="dk1"/>
                </a:solidFill>
              </a:rPr>
              <a:t>Began with nineteenth-century </a:t>
            </a:r>
            <a:r>
              <a:rPr lang="en" sz="1604">
                <a:solidFill>
                  <a:schemeClr val="dk1"/>
                </a:solidFill>
              </a:rPr>
              <a:t>ideal of </a:t>
            </a:r>
            <a:r>
              <a:rPr lang="en" sz="1604">
                <a:solidFill>
                  <a:schemeClr val="dk1"/>
                </a:solidFill>
              </a:rPr>
              <a:t>free-of-charge common schooling governed by locally elected school boards</a:t>
            </a:r>
            <a:endParaRPr sz="1604">
              <a:solidFill>
                <a:schemeClr val="dk1"/>
              </a:solidFill>
            </a:endParaRPr>
          </a:p>
          <a:p>
            <a:pPr indent="-330517" lvl="0" marL="4572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5"/>
              <a:buChar char="●"/>
            </a:pPr>
            <a:r>
              <a:rPr lang="en" sz="1604">
                <a:solidFill>
                  <a:schemeClr val="dk1"/>
                </a:solidFill>
              </a:rPr>
              <a:t>Ended with state-regulated education system </a:t>
            </a:r>
            <a:r>
              <a:rPr lang="en" sz="1604">
                <a:solidFill>
                  <a:schemeClr val="dk1"/>
                </a:solidFill>
              </a:rPr>
              <a:t>attaining </a:t>
            </a:r>
            <a:r>
              <a:rPr lang="en" sz="1604">
                <a:solidFill>
                  <a:schemeClr val="dk1"/>
                </a:solidFill>
              </a:rPr>
              <a:t>greater control over funding and educational standards</a:t>
            </a:r>
            <a:endParaRPr sz="1604">
              <a:solidFill>
                <a:schemeClr val="dk1"/>
              </a:solidFill>
            </a:endParaRPr>
          </a:p>
          <a:p>
            <a:pPr indent="-330517" lvl="0" marL="4572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5"/>
              <a:buChar char="●"/>
            </a:pPr>
            <a:r>
              <a:rPr b="1" lang="en" sz="1604">
                <a:solidFill>
                  <a:schemeClr val="dk1"/>
                </a:solidFill>
              </a:rPr>
              <a:t>How does this historical narrative square with locally situated common schools?</a:t>
            </a:r>
            <a:endParaRPr b="1" sz="1604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572000" y="1417350"/>
            <a:ext cx="4042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rage"/>
              <a:buChar char="●"/>
            </a:pPr>
            <a:r>
              <a:rPr b="1" lang="en" sz="2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In NYC alone</a:t>
            </a:r>
            <a:r>
              <a:rPr lang="en" sz="22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: </a:t>
            </a:r>
            <a:endParaRPr sz="22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AutoNum type="alphaLcPeriod"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New York Free School No. 1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AutoNum type="alphaLcPeriod"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New York African Free School No. 2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AutoNum type="alphaLcPeriod"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Wadleigh High School for Girls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AutoNum type="alphaLcPeriod"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Colored School No. 4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rage"/>
              <a:buAutoNum type="alphaLcPeriod"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Grammar School No. 9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237" y="49637"/>
            <a:ext cx="5595525" cy="504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Archival Materials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679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53">
                <a:solidFill>
                  <a:schemeClr val="dk1"/>
                </a:solidFill>
              </a:rPr>
              <a:t>New York State Archive — Albany, NY</a:t>
            </a:r>
            <a:endParaRPr b="1" sz="23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Meeting Minutes (</a:t>
            </a:r>
            <a:r>
              <a:rPr lang="en" sz="2053">
                <a:solidFill>
                  <a:schemeClr val="dk1"/>
                </a:solidFill>
              </a:rPr>
              <a:t>School District Board of Education)</a:t>
            </a:r>
            <a:endParaRPr sz="20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Legal Files for the </a:t>
            </a:r>
            <a:r>
              <a:rPr lang="en" sz="2053">
                <a:solidFill>
                  <a:schemeClr val="dk1"/>
                </a:solidFill>
              </a:rPr>
              <a:t>Establishment of School Districts </a:t>
            </a:r>
            <a:r>
              <a:rPr lang="en" sz="2053">
                <a:solidFill>
                  <a:schemeClr val="dk1"/>
                </a:solidFill>
              </a:rPr>
              <a:t>(Department of Educational Finance) </a:t>
            </a:r>
            <a:endParaRPr sz="20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Reports on Common Schools (</a:t>
            </a:r>
            <a:r>
              <a:rPr lang="en" sz="2053">
                <a:solidFill>
                  <a:schemeClr val="dk1"/>
                </a:solidFill>
              </a:rPr>
              <a:t>Department of State County Clerk)</a:t>
            </a:r>
            <a:endParaRPr sz="205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7089"/>
              <a:buFont typeface="Arial"/>
              <a:buNone/>
            </a:pPr>
            <a:r>
              <a:rPr b="1" lang="en" sz="2335">
                <a:solidFill>
                  <a:schemeClr val="dk1"/>
                </a:solidFill>
              </a:rPr>
              <a:t>Kheel Center for Labor-Management Documentation and Archives — Cornell University Library </a:t>
            </a:r>
            <a:endParaRPr b="1" sz="23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Annual NYSTA meeting proceedings and notes (the New York State Teachers Association) </a:t>
            </a:r>
            <a:endParaRPr sz="205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6746"/>
              <a:buFont typeface="Arial"/>
              <a:buNone/>
            </a:pPr>
            <a:r>
              <a:rPr b="1" lang="en" sz="2353">
                <a:solidFill>
                  <a:schemeClr val="dk1"/>
                </a:solidFill>
              </a:rPr>
              <a:t>The Library of Congress — Washington, D.C.</a:t>
            </a:r>
            <a:endParaRPr b="1" sz="23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Report of the School Fund and of Taxation and Revenue of NYS Comptroller's office</a:t>
            </a:r>
            <a:endParaRPr sz="20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Report of the Select Committee on the Petitions for the Amendment or Repeal of the Free School Law</a:t>
            </a:r>
            <a:endParaRPr sz="2053">
              <a:solidFill>
                <a:schemeClr val="dk1"/>
              </a:solidFill>
            </a:endParaRPr>
          </a:p>
          <a:p>
            <a:pPr indent="-3100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3">
                <a:solidFill>
                  <a:schemeClr val="dk1"/>
                </a:solidFill>
              </a:rPr>
              <a:t>Code of Public Instruction of the State of NY (laws and decisions relating to common schools)</a:t>
            </a:r>
            <a:endParaRPr sz="205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